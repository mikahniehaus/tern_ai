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418"/>
        </a:solidFill>
        <a:effectLst/>
      </p:bgPr>
    </p:bg>
    <p:spTree>
      <p:nvGrpSpPr>
        <p:cNvPr id="1" name=""/>
        <p:cNvGrpSpPr/>
        <p:nvPr/>
      </p:nvGrpSpPr>
      <p:grpSpPr/>
      <p:sp>
        <p:nvSpPr>
          <p:cNvPr id="2" name="TextBox 1"/>
          <p:cNvSpPr txBox="1"/>
          <p:nvPr/>
        </p:nvSpPr>
        <p:spPr>
          <a:xfrm>
            <a:off x="731520" y="2377440"/>
            <a:ext cx="10698480" cy="1280160"/>
          </a:xfrm>
          <a:prstGeom prst="rect">
            <a:avLst/>
          </a:prstGeom>
          <a:noFill/>
        </p:spPr>
        <p:txBody>
          <a:bodyPr wrap="none">
            <a:spAutoFit/>
          </a:bodyPr>
          <a:lstStyle/>
          <a:p>
            <a:pPr>
              <a:defRPr sz="6000" b="1">
                <a:solidFill>
                  <a:srgbClr val="F2F2F2"/>
                </a:solidFill>
                <a:latin typeface="Segoe UI"/>
              </a:defRPr>
            </a:pPr>
            <a:r>
              <a:t>Tern AI</a:t>
            </a:r>
          </a:p>
        </p:txBody>
      </p:sp>
      <p:sp>
        <p:nvSpPr>
          <p:cNvPr id="3" name="TextBox 2"/>
          <p:cNvSpPr txBox="1"/>
          <p:nvPr/>
        </p:nvSpPr>
        <p:spPr>
          <a:xfrm>
            <a:off x="731520" y="3429000"/>
            <a:ext cx="10698480" cy="1097280"/>
          </a:xfrm>
          <a:prstGeom prst="rect">
            <a:avLst/>
          </a:prstGeom>
          <a:noFill/>
        </p:spPr>
        <p:txBody>
          <a:bodyPr wrap="square">
            <a:spAutoFit/>
          </a:bodyPr>
          <a:lstStyle/>
          <a:p>
            <a:pPr>
              <a:defRPr sz="2000">
                <a:solidFill>
                  <a:srgbClr val="AAAAB2"/>
                </a:solidFill>
                <a:latin typeface="Segoe UI"/>
              </a:defRPr>
            </a:pPr>
            <a:r>
              <a:t>A 124M parameter language model, trained from random initialization on a single</a:t>
            </a:r>
            <a:br/>
            <a:r>
              <a:t>consumer GPU, with a self built retrieval and tool use layer around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8"/>
        </a:solidFill>
        <a:effectLst/>
      </p:bgPr>
    </p:bg>
    <p:spTree>
      <p:nvGrpSpPr>
        <p:cNvPr id="1" name=""/>
        <p:cNvGrpSpPr/>
        <p:nvPr/>
      </p:nvGrpSpPr>
      <p:grpSpPr/>
      <p:sp>
        <p:nvSpPr>
          <p:cNvPr id="2" name="TextBox 1"/>
          <p:cNvSpPr txBox="1"/>
          <p:nvPr/>
        </p:nvSpPr>
        <p:spPr>
          <a:xfrm>
            <a:off x="548640" y="457200"/>
            <a:ext cx="11064240" cy="1005840"/>
          </a:xfrm>
          <a:prstGeom prst="rect">
            <a:avLst/>
          </a:prstGeom>
          <a:noFill/>
        </p:spPr>
        <p:txBody>
          <a:bodyPr wrap="square">
            <a:spAutoFit/>
          </a:bodyPr>
          <a:lstStyle/>
          <a:p>
            <a:pPr>
              <a:defRPr sz="3600" b="1">
                <a:solidFill>
                  <a:srgbClr val="F2F2F2"/>
                </a:solidFill>
                <a:latin typeface="Segoe UI"/>
              </a:defRPr>
            </a:pPr>
            <a:r>
              <a:t>The constraint that shaped every decision</a:t>
            </a:r>
          </a:p>
        </p:txBody>
      </p:sp>
      <p:sp>
        <p:nvSpPr>
          <p:cNvPr id="3" name="TextBox 2"/>
          <p:cNvSpPr txBox="1"/>
          <p:nvPr/>
        </p:nvSpPr>
        <p:spPr>
          <a:xfrm>
            <a:off x="548640" y="1554480"/>
            <a:ext cx="11064240" cy="4754880"/>
          </a:xfrm>
          <a:prstGeom prst="rect">
            <a:avLst/>
          </a:prstGeom>
          <a:noFill/>
        </p:spPr>
        <p:txBody>
          <a:bodyPr wrap="square">
            <a:spAutoFit/>
          </a:bodyPr>
          <a:lstStyle/>
          <a:p>
            <a:pPr>
              <a:spcAft>
                <a:spcPts val="200"/>
              </a:spcAft>
              <a:defRPr sz="2000" b="1">
                <a:solidFill>
                  <a:srgbClr val="5B8DEF"/>
                </a:solidFill>
                <a:latin typeface="Segoe UI"/>
              </a:defRPr>
            </a:pPr>
            <a:r>
              <a:t>No pretrained weights.</a:t>
            </a:r>
          </a:p>
          <a:p>
            <a:pPr lvl="1">
              <a:spcAft>
                <a:spcPts val="1400"/>
              </a:spcAft>
              <a:defRPr sz="1700">
                <a:solidFill>
                  <a:srgbClr val="F2F2F2"/>
                </a:solidFill>
                <a:latin typeface="Segoe UI"/>
              </a:defRPr>
            </a:pPr>
            <a:r>
              <a:t>Random initialization. Every weight in the network starts as noise, same as GPT-2 did in 2019.</a:t>
            </a:r>
          </a:p>
          <a:p>
            <a:pPr>
              <a:spcAft>
                <a:spcPts val="200"/>
              </a:spcAft>
              <a:defRPr sz="2000" b="1">
                <a:solidFill>
                  <a:srgbClr val="5B8DEF"/>
                </a:solidFill>
                <a:latin typeface="Segoe UI"/>
              </a:defRPr>
            </a:pPr>
            <a:r>
              <a:t>One GPU, 12GB of VRAM.</a:t>
            </a:r>
          </a:p>
          <a:p>
            <a:pPr lvl="1">
              <a:spcAft>
                <a:spcPts val="1400"/>
              </a:spcAft>
              <a:defRPr sz="1700">
                <a:solidFill>
                  <a:srgbClr val="F2F2F2"/>
                </a:solidFill>
                <a:latin typeface="Segoe UI"/>
              </a:defRPr>
            </a:pPr>
            <a:r>
              <a:t>An RTX 4070 SUPER, not a data center cluster. Every architecture and batch size choice had to fit inside that ceiling.</a:t>
            </a:r>
          </a:p>
          <a:p>
            <a:pPr>
              <a:spcAft>
                <a:spcPts val="200"/>
              </a:spcAft>
              <a:defRPr sz="2000" b="1">
                <a:solidFill>
                  <a:srgbClr val="5B8DEF"/>
                </a:solidFill>
                <a:latin typeface="Segoe UI"/>
              </a:defRPr>
            </a:pPr>
            <a:r>
              <a:t>From scratch, not from zero engineering.</a:t>
            </a:r>
          </a:p>
          <a:p>
            <a:pPr lvl="1">
              <a:spcAft>
                <a:spcPts val="1400"/>
              </a:spcAft>
              <a:defRPr sz="1700">
                <a:solidFill>
                  <a:srgbClr val="F2F2F2"/>
                </a:solidFill>
                <a:latin typeface="Segoe UI"/>
              </a:defRPr>
            </a:pPr>
            <a:r>
              <a:t>The transformer implementation follows nanoGPT, Andrej Karpathy's own reference GPT-2 implementation. Reusing a well tested reference and patching only what the hardware needed is the same choice any engineer makes before reinventing a well solved problem.</a:t>
            </a:r>
          </a:p>
        </p:txBody>
      </p:sp>
      <p:sp>
        <p:nvSpPr>
          <p:cNvPr id="4" name="TextBox 3"/>
          <p:cNvSpPr txBox="1"/>
          <p:nvPr/>
        </p:nvSpPr>
        <p:spPr>
          <a:xfrm>
            <a:off x="548640" y="6446520"/>
            <a:ext cx="10972800" cy="365760"/>
          </a:xfrm>
          <a:prstGeom prst="rect">
            <a:avLst/>
          </a:prstGeom>
          <a:noFill/>
        </p:spPr>
        <p:txBody>
          <a:bodyPr wrap="none">
            <a:spAutoFit/>
          </a:bodyPr>
          <a:lstStyle/>
          <a:p>
            <a:pPr>
              <a:defRPr sz="1200">
                <a:solidFill>
                  <a:srgbClr val="AAAAB2"/>
                </a:solidFill>
                <a:latin typeface="Segoe UI"/>
              </a:defRPr>
            </a:pPr>
            <a:r>
              <a:t>Tern AI — technical overview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418"/>
        </a:solidFill>
        <a:effectLst/>
      </p:bgPr>
    </p:bg>
    <p:spTree>
      <p:nvGrpSpPr>
        <p:cNvPr id="1" name=""/>
        <p:cNvGrpSpPr/>
        <p:nvPr/>
      </p:nvGrpSpPr>
      <p:grpSpPr/>
      <p:sp>
        <p:nvSpPr>
          <p:cNvPr id="2" name="TextBox 1"/>
          <p:cNvSpPr txBox="1"/>
          <p:nvPr/>
        </p:nvSpPr>
        <p:spPr>
          <a:xfrm>
            <a:off x="548640" y="457200"/>
            <a:ext cx="11064240" cy="1005840"/>
          </a:xfrm>
          <a:prstGeom prst="rect">
            <a:avLst/>
          </a:prstGeom>
          <a:noFill/>
        </p:spPr>
        <p:txBody>
          <a:bodyPr wrap="square">
            <a:spAutoFit/>
          </a:bodyPr>
          <a:lstStyle/>
          <a:p>
            <a:pPr>
              <a:defRPr sz="3600" b="1">
                <a:solidFill>
                  <a:srgbClr val="F2F2F2"/>
                </a:solidFill>
                <a:latin typeface="Segoe UI"/>
              </a:defRPr>
            </a:pPr>
            <a:r>
              <a:t>Model architecture</a:t>
            </a:r>
          </a:p>
        </p:txBody>
      </p:sp>
      <p:sp>
        <p:nvSpPr>
          <p:cNvPr id="3" name="TextBox 2"/>
          <p:cNvSpPr txBox="1"/>
          <p:nvPr/>
        </p:nvSpPr>
        <p:spPr>
          <a:xfrm>
            <a:off x="548640" y="1554480"/>
            <a:ext cx="11064240" cy="4754880"/>
          </a:xfrm>
          <a:prstGeom prst="rect">
            <a:avLst/>
          </a:prstGeom>
          <a:noFill/>
        </p:spPr>
        <p:txBody>
          <a:bodyPr wrap="square">
            <a:spAutoFit/>
          </a:bodyPr>
          <a:lstStyle/>
          <a:p>
            <a:pPr>
              <a:spcAft>
                <a:spcPts val="1000"/>
              </a:spcAft>
              <a:defRPr sz="2000">
                <a:solidFill>
                  <a:srgbClr val="F2F2F2"/>
                </a:solidFill>
                <a:latin typeface="Segoe UI"/>
              </a:defRPr>
            </a:pPr>
            <a:r>
              <a:t>•  GPT-2 small: 12 transformer layers, 12 attention heads, 768 embedding dimensions, 1024 token context window</a:t>
            </a:r>
          </a:p>
          <a:p>
            <a:pPr>
              <a:spcAft>
                <a:spcPts val="1000"/>
              </a:spcAft>
              <a:defRPr sz="2000">
                <a:solidFill>
                  <a:srgbClr val="F2F2F2"/>
                </a:solidFill>
                <a:latin typeface="Segoe UI"/>
              </a:defRPr>
            </a:pPr>
            <a:r>
              <a:t>•  123.6 million parameters, standard multi head causal self attention, no architectural shortcuts</a:t>
            </a:r>
          </a:p>
          <a:p>
            <a:pPr>
              <a:spcAft>
                <a:spcPts val="1000"/>
              </a:spcAft>
              <a:defRPr sz="2000">
                <a:solidFill>
                  <a:srgbClr val="F2F2F2"/>
                </a:solidFill>
                <a:latin typeface="Segoe UI"/>
              </a:defRPr>
            </a:pPr>
            <a:r>
              <a:t>•  Tokenized with GPT-2's own BPE vocabulary (tiktoken), 50,257 real tokens</a:t>
            </a:r>
          </a:p>
          <a:p>
            <a:pPr>
              <a:spcAft>
                <a:spcPts val="1000"/>
              </a:spcAft>
              <a:defRPr sz="2000">
                <a:solidFill>
                  <a:srgbClr val="F2F2F2"/>
                </a:solidFill>
                <a:latin typeface="Segoe UI"/>
              </a:defRPr>
            </a:pPr>
            <a:r>
              <a:t>•  Trained in bfloat16 with automatic mixed precision, AdamW with cosine learning rate decay and linear warmup</a:t>
            </a:r>
          </a:p>
        </p:txBody>
      </p:sp>
      <p:sp>
        <p:nvSpPr>
          <p:cNvPr id="4" name="TextBox 3"/>
          <p:cNvSpPr txBox="1"/>
          <p:nvPr/>
        </p:nvSpPr>
        <p:spPr>
          <a:xfrm>
            <a:off x="548640" y="6446520"/>
            <a:ext cx="10972800" cy="365760"/>
          </a:xfrm>
          <a:prstGeom prst="rect">
            <a:avLst/>
          </a:prstGeom>
          <a:noFill/>
        </p:spPr>
        <p:txBody>
          <a:bodyPr wrap="none">
            <a:spAutoFit/>
          </a:bodyPr>
          <a:lstStyle/>
          <a:p>
            <a:pPr>
              <a:defRPr sz="1200">
                <a:solidFill>
                  <a:srgbClr val="AAAAB2"/>
                </a:solidFill>
                <a:latin typeface="Segoe UI"/>
              </a:defRPr>
            </a:pPr>
            <a:r>
              <a:t>Tern AI — technical overview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418"/>
        </a:solidFill>
        <a:effectLst/>
      </p:bgPr>
    </p:bg>
    <p:spTree>
      <p:nvGrpSpPr>
        <p:cNvPr id="1" name=""/>
        <p:cNvGrpSpPr/>
        <p:nvPr/>
      </p:nvGrpSpPr>
      <p:grpSpPr/>
      <p:sp>
        <p:nvSpPr>
          <p:cNvPr id="2" name="TextBox 1"/>
          <p:cNvSpPr txBox="1"/>
          <p:nvPr/>
        </p:nvSpPr>
        <p:spPr>
          <a:xfrm>
            <a:off x="548640" y="457200"/>
            <a:ext cx="11064240" cy="1005840"/>
          </a:xfrm>
          <a:prstGeom prst="rect">
            <a:avLst/>
          </a:prstGeom>
          <a:noFill/>
        </p:spPr>
        <p:txBody>
          <a:bodyPr wrap="square">
            <a:spAutoFit/>
          </a:bodyPr>
          <a:lstStyle/>
          <a:p>
            <a:pPr>
              <a:defRPr sz="3600" b="1">
                <a:solidFill>
                  <a:srgbClr val="F2F2F2"/>
                </a:solidFill>
                <a:latin typeface="Segoe UI"/>
              </a:defRPr>
            </a:pPr>
            <a:r>
              <a:t>Pretraining: teaching it English from nothing</a:t>
            </a:r>
          </a:p>
        </p:txBody>
      </p:sp>
      <p:sp>
        <p:nvSpPr>
          <p:cNvPr id="3" name="TextBox 2"/>
          <p:cNvSpPr txBox="1"/>
          <p:nvPr/>
        </p:nvSpPr>
        <p:spPr>
          <a:xfrm>
            <a:off x="548640" y="1554480"/>
            <a:ext cx="11064240" cy="4754880"/>
          </a:xfrm>
          <a:prstGeom prst="rect">
            <a:avLst/>
          </a:prstGeom>
          <a:noFill/>
        </p:spPr>
        <p:txBody>
          <a:bodyPr wrap="square">
            <a:spAutoFit/>
          </a:bodyPr>
          <a:lstStyle/>
          <a:p>
            <a:pPr>
              <a:spcAft>
                <a:spcPts val="200"/>
              </a:spcAft>
              <a:defRPr sz="2000" b="1">
                <a:solidFill>
                  <a:srgbClr val="5B8DEF"/>
                </a:solidFill>
                <a:latin typeface="Segoe UI"/>
              </a:defRPr>
            </a:pPr>
            <a:r>
              <a:t>Dataset: OpenWebText.</a:t>
            </a:r>
          </a:p>
          <a:p>
            <a:pPr lvl="1">
              <a:spcAft>
                <a:spcPts val="1400"/>
              </a:spcAft>
              <a:defRPr sz="1700">
                <a:solidFill>
                  <a:srgbClr val="F2F2F2"/>
                </a:solidFill>
                <a:latin typeface="Segoe UI"/>
              </a:defRPr>
            </a:pPr>
            <a:r>
              <a:t>Roughly 9 billion tokens, one full pass, tokenized into a single binary stream for fast random access reads during training.</a:t>
            </a:r>
          </a:p>
          <a:p>
            <a:pPr>
              <a:spcAft>
                <a:spcPts val="200"/>
              </a:spcAft>
              <a:defRPr sz="2000" b="1">
                <a:solidFill>
                  <a:srgbClr val="5B8DEF"/>
                </a:solidFill>
                <a:latin typeface="Segoe UI"/>
              </a:defRPr>
            </a:pPr>
            <a:r>
              <a:t>25,000 iterations, batch size 6, gradient accumulation 64.</a:t>
            </a:r>
          </a:p>
          <a:p>
            <a:pPr lvl="1">
              <a:spcAft>
                <a:spcPts val="1400"/>
              </a:spcAft>
              <a:defRPr sz="1700">
                <a:solidFill>
                  <a:srgbClr val="F2F2F2"/>
                </a:solidFill>
                <a:latin typeface="Segoe UI"/>
              </a:defRPr>
            </a:pPr>
            <a:r>
              <a:t>393,216 tokens per optimizer step.</a:t>
            </a:r>
          </a:p>
          <a:p>
            <a:pPr>
              <a:spcAft>
                <a:spcPts val="200"/>
              </a:spcAft>
              <a:defRPr sz="2000" b="1">
                <a:solidFill>
                  <a:srgbClr val="5B8DEF"/>
                </a:solidFill>
                <a:latin typeface="Segoe UI"/>
              </a:defRPr>
            </a:pPr>
            <a:r>
              <a:t>Final result: validation loss 3.07.</a:t>
            </a:r>
          </a:p>
          <a:p>
            <a:pPr lvl="1">
              <a:spcAft>
                <a:spcPts val="1400"/>
              </a:spcAft>
              <a:defRPr sz="1700">
                <a:solidFill>
                  <a:srgbClr val="F2F2F2"/>
                </a:solidFill>
                <a:latin typeface="Segoe UI"/>
              </a:defRPr>
            </a:pPr>
            <a:r>
              <a:t>OpenAI's own original GPT-2 checkpoint, evaluated on this same dataset, scores 3.11. This model, trained from scratch on one consumer GPU, already matches that baseline before the run even finished.</a:t>
            </a:r>
          </a:p>
        </p:txBody>
      </p:sp>
      <p:sp>
        <p:nvSpPr>
          <p:cNvPr id="4" name="TextBox 3"/>
          <p:cNvSpPr txBox="1"/>
          <p:nvPr/>
        </p:nvSpPr>
        <p:spPr>
          <a:xfrm>
            <a:off x="548640" y="6446520"/>
            <a:ext cx="10972800" cy="365760"/>
          </a:xfrm>
          <a:prstGeom prst="rect">
            <a:avLst/>
          </a:prstGeom>
          <a:noFill/>
        </p:spPr>
        <p:txBody>
          <a:bodyPr wrap="none">
            <a:spAutoFit/>
          </a:bodyPr>
          <a:lstStyle/>
          <a:p>
            <a:pPr>
              <a:defRPr sz="1200">
                <a:solidFill>
                  <a:srgbClr val="AAAAB2"/>
                </a:solidFill>
                <a:latin typeface="Segoe UI"/>
              </a:defRPr>
            </a:pPr>
            <a:r>
              <a:t>Tern AI — technical overview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8"/>
        </a:solidFill>
        <a:effectLst/>
      </p:bgPr>
    </p:bg>
    <p:spTree>
      <p:nvGrpSpPr>
        <p:cNvPr id="1" name=""/>
        <p:cNvGrpSpPr/>
        <p:nvPr/>
      </p:nvGrpSpPr>
      <p:grpSpPr/>
      <p:sp>
        <p:nvSpPr>
          <p:cNvPr id="2" name="TextBox 1"/>
          <p:cNvSpPr txBox="1"/>
          <p:nvPr/>
        </p:nvSpPr>
        <p:spPr>
          <a:xfrm>
            <a:off x="548640" y="457200"/>
            <a:ext cx="11064240" cy="1005840"/>
          </a:xfrm>
          <a:prstGeom prst="rect">
            <a:avLst/>
          </a:prstGeom>
          <a:noFill/>
        </p:spPr>
        <p:txBody>
          <a:bodyPr wrap="square">
            <a:spAutoFit/>
          </a:bodyPr>
          <a:lstStyle/>
          <a:p>
            <a:pPr>
              <a:defRPr sz="3600" b="1">
                <a:solidFill>
                  <a:srgbClr val="F2F2F2"/>
                </a:solidFill>
                <a:latin typeface="Segoe UI"/>
              </a:defRPr>
            </a:pPr>
            <a:r>
              <a:t>Real engineering: the batch size that lied</a:t>
            </a:r>
          </a:p>
        </p:txBody>
      </p:sp>
      <p:sp>
        <p:nvSpPr>
          <p:cNvPr id="3" name="TextBox 2"/>
          <p:cNvSpPr txBox="1"/>
          <p:nvPr/>
        </p:nvSpPr>
        <p:spPr>
          <a:xfrm>
            <a:off x="548640" y="1554480"/>
            <a:ext cx="11064240" cy="4754880"/>
          </a:xfrm>
          <a:prstGeom prst="rect">
            <a:avLst/>
          </a:prstGeom>
          <a:noFill/>
        </p:spPr>
        <p:txBody>
          <a:bodyPr wrap="square">
            <a:spAutoFit/>
          </a:bodyPr>
          <a:lstStyle/>
          <a:p>
            <a:pPr>
              <a:spcAft>
                <a:spcPts val="200"/>
              </a:spcAft>
              <a:defRPr sz="2000" b="1">
                <a:solidFill>
                  <a:srgbClr val="5B8DEF"/>
                </a:solidFill>
                <a:latin typeface="Segoe UI"/>
              </a:defRPr>
            </a:pPr>
            <a:r>
              <a:t>The bug.</a:t>
            </a:r>
          </a:p>
          <a:p>
            <a:pPr lvl="1">
              <a:spcAft>
                <a:spcPts val="1400"/>
              </a:spcAft>
              <a:defRPr sz="1700">
                <a:solidFill>
                  <a:srgbClr val="F2F2F2"/>
                </a:solidFill>
                <a:latin typeface="Segoe UI"/>
              </a:defRPr>
            </a:pPr>
            <a:r>
              <a:t>An isolated benchmark said batch size 8 fit comfortably in 12GB of VRAM. Running the real training loop, with gradient scaling, clipping, and optimizer state actually resident, told a different story.</a:t>
            </a:r>
          </a:p>
          <a:p>
            <a:pPr>
              <a:spcAft>
                <a:spcPts val="200"/>
              </a:spcAft>
              <a:defRPr sz="2000" b="1">
                <a:solidFill>
                  <a:srgbClr val="5B8DEF"/>
                </a:solidFill>
                <a:latin typeface="Segoe UI"/>
              </a:defRPr>
            </a:pPr>
            <a:r>
              <a:t>The measurement.</a:t>
            </a:r>
          </a:p>
          <a:p>
            <a:pPr lvl="1">
              <a:spcAft>
                <a:spcPts val="1400"/>
              </a:spcAft>
              <a:defRPr sz="1700">
                <a:solidFill>
                  <a:srgbClr val="F2F2F2"/>
                </a:solidFill>
                <a:latin typeface="Segoe UI"/>
              </a:defRPr>
            </a:pPr>
            <a:r>
              <a:t>At batch size 8: 39 seconds per iteration, 2.7% of theoretical peak GPU throughput, high reported utilization but low power draw. Every symptom of a card waiting on data, not computing.</a:t>
            </a:r>
          </a:p>
          <a:p>
            <a:pPr>
              <a:spcAft>
                <a:spcPts val="200"/>
              </a:spcAft>
              <a:defRPr sz="2000" b="1">
                <a:solidFill>
                  <a:srgbClr val="5B8DEF"/>
                </a:solidFill>
                <a:latin typeface="Segoe UI"/>
              </a:defRPr>
            </a:pPr>
            <a:r>
              <a:t>The root cause.</a:t>
            </a:r>
          </a:p>
          <a:p>
            <a:pPr lvl="1">
              <a:spcAft>
                <a:spcPts val="1400"/>
              </a:spcAft>
              <a:defRPr sz="1700">
                <a:solidFill>
                  <a:srgbClr val="F2F2F2"/>
                </a:solidFill>
                <a:latin typeface="Segoe UI"/>
              </a:defRPr>
            </a:pPr>
            <a:r>
              <a:t>A documented NVIDIA Windows driver behavior since mid 2023: when VRAM is nearly full, CUDA allocations silently spill into system RAM instead of raising an out of memory error. Nothing crashes. It just gets nearly five times slower with no warning.</a:t>
            </a:r>
          </a:p>
          <a:p>
            <a:pPr>
              <a:spcAft>
                <a:spcPts val="200"/>
              </a:spcAft>
              <a:defRPr sz="2000" b="1">
                <a:solidFill>
                  <a:srgbClr val="5B8DEF"/>
                </a:solidFill>
                <a:latin typeface="Segoe UI"/>
              </a:defRPr>
            </a:pPr>
            <a:r>
              <a:t>The fix.</a:t>
            </a:r>
          </a:p>
          <a:p>
            <a:pPr lvl="1">
              <a:spcAft>
                <a:spcPts val="1400"/>
              </a:spcAft>
              <a:defRPr sz="1700">
                <a:solidFill>
                  <a:srgbClr val="F2F2F2"/>
                </a:solidFill>
                <a:latin typeface="Segoe UI"/>
              </a:defRPr>
            </a:pPr>
            <a:r>
              <a:t>Batch size 6, gradient accumulation 64, same effective tokens per step. Iteration time dropped to 8 seconds. Throughput went from 2.7% to 13.5% of peak.</a:t>
            </a:r>
          </a:p>
        </p:txBody>
      </p:sp>
      <p:sp>
        <p:nvSpPr>
          <p:cNvPr id="4" name="TextBox 3"/>
          <p:cNvSpPr txBox="1"/>
          <p:nvPr/>
        </p:nvSpPr>
        <p:spPr>
          <a:xfrm>
            <a:off x="548640" y="6446520"/>
            <a:ext cx="10972800" cy="365760"/>
          </a:xfrm>
          <a:prstGeom prst="rect">
            <a:avLst/>
          </a:prstGeom>
          <a:noFill/>
        </p:spPr>
        <p:txBody>
          <a:bodyPr wrap="none">
            <a:spAutoFit/>
          </a:bodyPr>
          <a:lstStyle/>
          <a:p>
            <a:pPr>
              <a:defRPr sz="1200">
                <a:solidFill>
                  <a:srgbClr val="AAAAB2"/>
                </a:solidFill>
                <a:latin typeface="Segoe UI"/>
              </a:defRPr>
            </a:pPr>
            <a:r>
              <a:t>Tern AI — technical overview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418"/>
        </a:solidFill>
        <a:effectLst/>
      </p:bgPr>
    </p:bg>
    <p:spTree>
      <p:nvGrpSpPr>
        <p:cNvPr id="1" name=""/>
        <p:cNvGrpSpPr/>
        <p:nvPr/>
      </p:nvGrpSpPr>
      <p:grpSpPr/>
      <p:sp>
        <p:nvSpPr>
          <p:cNvPr id="2" name="TextBox 1"/>
          <p:cNvSpPr txBox="1"/>
          <p:nvPr/>
        </p:nvSpPr>
        <p:spPr>
          <a:xfrm>
            <a:off x="548640" y="457200"/>
            <a:ext cx="11064240" cy="1005840"/>
          </a:xfrm>
          <a:prstGeom prst="rect">
            <a:avLst/>
          </a:prstGeom>
          <a:noFill/>
        </p:spPr>
        <p:txBody>
          <a:bodyPr wrap="square">
            <a:spAutoFit/>
          </a:bodyPr>
          <a:lstStyle/>
          <a:p>
            <a:pPr>
              <a:defRPr sz="3600" b="1">
                <a:solidFill>
                  <a:srgbClr val="F2F2F2"/>
                </a:solidFill>
                <a:latin typeface="Segoe UI"/>
              </a:defRPr>
            </a:pPr>
            <a:r>
              <a:t>Fine tuning: teaching format, not knowledge</a:t>
            </a:r>
          </a:p>
        </p:txBody>
      </p:sp>
      <p:sp>
        <p:nvSpPr>
          <p:cNvPr id="3" name="TextBox 2"/>
          <p:cNvSpPr txBox="1"/>
          <p:nvPr/>
        </p:nvSpPr>
        <p:spPr>
          <a:xfrm>
            <a:off x="548640" y="1554480"/>
            <a:ext cx="11064240" cy="4754880"/>
          </a:xfrm>
          <a:prstGeom prst="rect">
            <a:avLst/>
          </a:prstGeom>
          <a:noFill/>
        </p:spPr>
        <p:txBody>
          <a:bodyPr wrap="square">
            <a:spAutoFit/>
          </a:bodyPr>
          <a:lstStyle/>
          <a:p>
            <a:pPr>
              <a:spcAft>
                <a:spcPts val="200"/>
              </a:spcAft>
              <a:defRPr sz="2000" b="1">
                <a:solidFill>
                  <a:srgbClr val="5B8DEF"/>
                </a:solidFill>
                <a:latin typeface="Segoe UI"/>
              </a:defRPr>
            </a:pPr>
            <a:r>
              <a:t>Three fixed prompt shapes, trained on top of the base checkpoint:</a:t>
            </a:r>
          </a:p>
          <a:p>
            <a:pPr>
              <a:spcAft>
                <a:spcPts val="1000"/>
              </a:spcAft>
              <a:defRPr sz="2000">
                <a:solidFill>
                  <a:srgbClr val="F2F2F2"/>
                </a:solidFill>
                <a:latin typeface="Segoe UI"/>
              </a:defRPr>
            </a:pPr>
            <a:r>
              <a:t>•  Retrieval grounded: Context: &lt;passage&gt; / Question: ... / Answer: &lt;continuation&gt;</a:t>
            </a:r>
          </a:p>
          <a:p>
            <a:pPr>
              <a:spcAft>
                <a:spcPts val="1000"/>
              </a:spcAft>
              <a:defRPr sz="2000">
                <a:solidFill>
                  <a:srgbClr val="F2F2F2"/>
                </a:solidFill>
                <a:latin typeface="Segoe UI"/>
              </a:defRPr>
            </a:pPr>
            <a:r>
              <a:t>•  Tool use: Context: (none) / Question: ... / Answer: CALL: tool(args)</a:t>
            </a:r>
          </a:p>
          <a:p>
            <a:pPr>
              <a:spcAft>
                <a:spcPts val="1000"/>
              </a:spcAft>
              <a:defRPr sz="2000">
                <a:solidFill>
                  <a:srgbClr val="F2F2F2"/>
                </a:solidFill>
                <a:latin typeface="Segoe UI"/>
              </a:defRPr>
            </a:pPr>
            <a:r>
              <a:t>•  No match: Context: (none) / Question: ... / Answer: &lt;refusal or reply&gt;</a:t>
            </a:r>
          </a:p>
          <a:p>
            <a:pPr>
              <a:spcAft>
                <a:spcPts val="200"/>
              </a:spcAft>
              <a:defRPr sz="2000" b="1">
                <a:solidFill>
                  <a:srgbClr val="5B8DEF"/>
                </a:solidFill>
                <a:latin typeface="Segoe UI"/>
              </a:defRPr>
            </a:pPr>
            <a:r>
              <a:t>Why this works with a 124M model.</a:t>
            </a:r>
          </a:p>
          <a:p>
            <a:pPr lvl="1">
              <a:spcAft>
                <a:spcPts val="1400"/>
              </a:spcAft>
              <a:defRPr sz="1700">
                <a:solidFill>
                  <a:srgbClr val="F2F2F2"/>
                </a:solidFill>
                <a:latin typeface="Segoe UI"/>
              </a:defRPr>
            </a:pPr>
            <a:r>
              <a:t>Fine tuning teaches a model its output format and behavior, not new facts (the “superficial alignment hypothesis,” LIMA, 2023). The base model already knows language and, through retrieval, sees real facts at inference time. SFT only has to teach it which shape to answer in.</a:t>
            </a:r>
          </a:p>
        </p:txBody>
      </p:sp>
      <p:sp>
        <p:nvSpPr>
          <p:cNvPr id="4" name="TextBox 3"/>
          <p:cNvSpPr txBox="1"/>
          <p:nvPr/>
        </p:nvSpPr>
        <p:spPr>
          <a:xfrm>
            <a:off x="548640" y="6446520"/>
            <a:ext cx="10972800" cy="365760"/>
          </a:xfrm>
          <a:prstGeom prst="rect">
            <a:avLst/>
          </a:prstGeom>
          <a:noFill/>
        </p:spPr>
        <p:txBody>
          <a:bodyPr wrap="none">
            <a:spAutoFit/>
          </a:bodyPr>
          <a:lstStyle/>
          <a:p>
            <a:pPr>
              <a:defRPr sz="1200">
                <a:solidFill>
                  <a:srgbClr val="AAAAB2"/>
                </a:solidFill>
                <a:latin typeface="Segoe UI"/>
              </a:defRPr>
            </a:pPr>
            <a:r>
              <a:t>Tern AI — technical overview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418"/>
        </a:solidFill>
        <a:effectLst/>
      </p:bgPr>
    </p:bg>
    <p:spTree>
      <p:nvGrpSpPr>
        <p:cNvPr id="1" name=""/>
        <p:cNvGrpSpPr/>
        <p:nvPr/>
      </p:nvGrpSpPr>
      <p:grpSpPr/>
      <p:sp>
        <p:nvSpPr>
          <p:cNvPr id="2" name="TextBox 1"/>
          <p:cNvSpPr txBox="1"/>
          <p:nvPr/>
        </p:nvSpPr>
        <p:spPr>
          <a:xfrm>
            <a:off x="548640" y="457200"/>
            <a:ext cx="11064240" cy="1005840"/>
          </a:xfrm>
          <a:prstGeom prst="rect">
            <a:avLst/>
          </a:prstGeom>
          <a:noFill/>
        </p:spPr>
        <p:txBody>
          <a:bodyPr wrap="square">
            <a:spAutoFit/>
          </a:bodyPr>
          <a:lstStyle/>
          <a:p>
            <a:pPr>
              <a:defRPr sz="3600" b="1">
                <a:solidFill>
                  <a:srgbClr val="F2F2F2"/>
                </a:solidFill>
                <a:latin typeface="Segoe UI"/>
              </a:defRPr>
            </a:pPr>
            <a:r>
              <a:t>Retrieval: grounding answers in real text</a:t>
            </a:r>
          </a:p>
        </p:txBody>
      </p:sp>
      <p:sp>
        <p:nvSpPr>
          <p:cNvPr id="3" name="TextBox 2"/>
          <p:cNvSpPr txBox="1"/>
          <p:nvPr/>
        </p:nvSpPr>
        <p:spPr>
          <a:xfrm>
            <a:off x="548640" y="1554480"/>
            <a:ext cx="11064240" cy="4754880"/>
          </a:xfrm>
          <a:prstGeom prst="rect">
            <a:avLst/>
          </a:prstGeom>
          <a:noFill/>
        </p:spPr>
        <p:txBody>
          <a:bodyPr wrap="square">
            <a:spAutoFit/>
          </a:bodyPr>
          <a:lstStyle/>
          <a:p>
            <a:pPr>
              <a:spcAft>
                <a:spcPts val="200"/>
              </a:spcAft>
              <a:defRPr sz="2000" b="1">
                <a:solidFill>
                  <a:srgbClr val="5B8DEF"/>
                </a:solidFill>
                <a:latin typeface="Segoe UI"/>
              </a:defRPr>
            </a:pPr>
            <a:r>
              <a:t>6.4 million Wikipedia articles</a:t>
            </a:r>
          </a:p>
          <a:p>
            <a:pPr lvl="1">
              <a:spcAft>
                <a:spcPts val="1400"/>
              </a:spcAft>
              <a:defRPr sz="1700">
                <a:solidFill>
                  <a:srgbClr val="F2F2F2"/>
                </a:solidFill>
                <a:latin typeface="Segoe UI"/>
              </a:defRPr>
            </a:pPr>
            <a:r>
              <a:t>embedded with a sentence transformer (BAAI/bge-small-en-v1.5) and indexed with FAISS's IVFFlat index for approximate nearest neighbor search at that scale.</a:t>
            </a:r>
          </a:p>
          <a:p>
            <a:pPr>
              <a:spcAft>
                <a:spcPts val="200"/>
              </a:spcAft>
              <a:defRPr sz="2000" b="1">
                <a:solidFill>
                  <a:srgbClr val="5B8DEF"/>
                </a:solidFill>
                <a:latin typeface="Segoe UI"/>
              </a:defRPr>
            </a:pPr>
            <a:r>
              <a:t>A raw embedding match is not enough.</a:t>
            </a:r>
          </a:p>
          <a:p>
            <a:pPr lvl="1">
              <a:spcAft>
                <a:spcPts val="1400"/>
              </a:spcAft>
              <a:defRPr sz="1700">
                <a:solidFill>
                  <a:srgbClr val="F2F2F2"/>
                </a:solidFill>
                <a:latin typeface="Segoe UI"/>
              </a:defRPr>
            </a:pPr>
            <a:r>
              <a:t>Short or vague queries can land close to an unrelated article by coincidence. Every FAISS candidate is reranked against the real query text with a cross encoder before it is trusted.</a:t>
            </a:r>
          </a:p>
          <a:p>
            <a:pPr>
              <a:spcAft>
                <a:spcPts val="200"/>
              </a:spcAft>
              <a:defRPr sz="2000" b="1">
                <a:solidFill>
                  <a:srgbClr val="5B8DEF"/>
                </a:solidFill>
                <a:latin typeface="Segoe UI"/>
              </a:defRPr>
            </a:pPr>
            <a:r>
              <a:t>Disambiguation pages are filtered before reranking,</a:t>
            </a:r>
          </a:p>
          <a:p>
            <a:pPr lvl="1">
              <a:spcAft>
                <a:spcPts val="1400"/>
              </a:spcAft>
              <a:defRPr sz="1700">
                <a:solidFill>
                  <a:srgbClr val="F2F2F2"/>
                </a:solidFill>
                <a:latin typeface="Segoe UI"/>
              </a:defRPr>
            </a:pPr>
            <a:r>
              <a:t>grounded in Wikipedia's own Manual of Style rules for what a disambiguation stub actually looks like, so a thin “X may refer to” page never outranks the real article.</a:t>
            </a:r>
          </a:p>
        </p:txBody>
      </p:sp>
      <p:sp>
        <p:nvSpPr>
          <p:cNvPr id="4" name="TextBox 3"/>
          <p:cNvSpPr txBox="1"/>
          <p:nvPr/>
        </p:nvSpPr>
        <p:spPr>
          <a:xfrm>
            <a:off x="548640" y="6446520"/>
            <a:ext cx="10972800" cy="365760"/>
          </a:xfrm>
          <a:prstGeom prst="rect">
            <a:avLst/>
          </a:prstGeom>
          <a:noFill/>
        </p:spPr>
        <p:txBody>
          <a:bodyPr wrap="none">
            <a:spAutoFit/>
          </a:bodyPr>
          <a:lstStyle/>
          <a:p>
            <a:pPr>
              <a:defRPr sz="1200">
                <a:solidFill>
                  <a:srgbClr val="AAAAB2"/>
                </a:solidFill>
                <a:latin typeface="Segoe UI"/>
              </a:defRPr>
            </a:pPr>
            <a:r>
              <a:t>Tern AI — technical overview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418"/>
        </a:solidFill>
        <a:effectLst/>
      </p:bgPr>
    </p:bg>
    <p:spTree>
      <p:nvGrpSpPr>
        <p:cNvPr id="1" name=""/>
        <p:cNvGrpSpPr/>
        <p:nvPr/>
      </p:nvGrpSpPr>
      <p:grpSpPr/>
      <p:sp>
        <p:nvSpPr>
          <p:cNvPr id="2" name="TextBox 1"/>
          <p:cNvSpPr txBox="1"/>
          <p:nvPr/>
        </p:nvSpPr>
        <p:spPr>
          <a:xfrm>
            <a:off x="548640" y="457200"/>
            <a:ext cx="11064240" cy="1005840"/>
          </a:xfrm>
          <a:prstGeom prst="rect">
            <a:avLst/>
          </a:prstGeom>
          <a:noFill/>
        </p:spPr>
        <p:txBody>
          <a:bodyPr wrap="square">
            <a:spAutoFit/>
          </a:bodyPr>
          <a:lstStyle/>
          <a:p>
            <a:pPr>
              <a:defRPr sz="3600" b="1">
                <a:solidFill>
                  <a:srgbClr val="F2F2F2"/>
                </a:solidFill>
                <a:latin typeface="Segoe UI"/>
              </a:defRPr>
            </a:pPr>
            <a:r>
              <a:t>Real engineering: the silent embedding mismatch</a:t>
            </a:r>
          </a:p>
        </p:txBody>
      </p:sp>
      <p:sp>
        <p:nvSpPr>
          <p:cNvPr id="3" name="TextBox 2"/>
          <p:cNvSpPr txBox="1"/>
          <p:nvPr/>
        </p:nvSpPr>
        <p:spPr>
          <a:xfrm>
            <a:off x="548640" y="1554480"/>
            <a:ext cx="11064240" cy="4754880"/>
          </a:xfrm>
          <a:prstGeom prst="rect">
            <a:avLst/>
          </a:prstGeom>
          <a:noFill/>
        </p:spPr>
        <p:txBody>
          <a:bodyPr wrap="square">
            <a:spAutoFit/>
          </a:bodyPr>
          <a:lstStyle/>
          <a:p>
            <a:pPr>
              <a:spcAft>
                <a:spcPts val="200"/>
              </a:spcAft>
              <a:defRPr sz="2000" b="1">
                <a:solidFill>
                  <a:srgbClr val="5B8DEF"/>
                </a:solidFill>
                <a:latin typeface="Segoe UI"/>
              </a:defRPr>
            </a:pPr>
            <a:r>
              <a:t>The symptom.</a:t>
            </a:r>
          </a:p>
          <a:p>
            <a:pPr lvl="1">
              <a:spcAft>
                <a:spcPts val="1400"/>
              </a:spcAft>
              <a:defRPr sz="1700">
                <a:solidFill>
                  <a:srgbClr val="F2F2F2"/>
                </a:solidFill>
                <a:latin typeface="Segoe UI"/>
              </a:defRPr>
            </a:pPr>
            <a:r>
              <a:t>“What is the capital of France?” returned nothing related to France or Paris. Nearest neighbors were unrelated articles like “1407 in France.”</a:t>
            </a:r>
          </a:p>
          <a:p>
            <a:pPr>
              <a:spcAft>
                <a:spcPts val="200"/>
              </a:spcAft>
              <a:defRPr sz="2000" b="1">
                <a:solidFill>
                  <a:srgbClr val="5B8DEF"/>
                </a:solidFill>
                <a:latin typeface="Segoe UI"/>
              </a:defRPr>
            </a:pPr>
            <a:r>
              <a:t>The investigation.</a:t>
            </a:r>
          </a:p>
          <a:p>
            <a:pPr lvl="1">
              <a:spcAft>
                <a:spcPts val="1400"/>
              </a:spcAft>
              <a:defRPr sz="1700">
                <a:solidFill>
                  <a:srgbClr val="F2F2F2"/>
                </a:solidFill>
                <a:latin typeface="Segoe UI"/>
              </a:defRPr>
            </a:pPr>
            <a:r>
              <a:t>The vector index was built with one embedding model. The embedding model powering live queries had since been upgraded to a better one for a real, separate, measured quality reason. Both are 384 dimensional, so nothing about the schema looked wrong.</a:t>
            </a:r>
          </a:p>
          <a:p>
            <a:pPr>
              <a:spcAft>
                <a:spcPts val="200"/>
              </a:spcAft>
              <a:defRPr sz="2000" b="1">
                <a:solidFill>
                  <a:srgbClr val="5B8DEF"/>
                </a:solidFill>
                <a:latin typeface="Segoe UI"/>
              </a:defRPr>
            </a:pPr>
            <a:r>
              <a:t>The actual bug.</a:t>
            </a:r>
          </a:p>
          <a:p>
            <a:pPr lvl="1">
              <a:spcAft>
                <a:spcPts val="1400"/>
              </a:spcAft>
              <a:defRPr sz="1700">
                <a:solidFill>
                  <a:srgbClr val="F2F2F2"/>
                </a:solidFill>
                <a:latin typeface="Segoe UI"/>
              </a:defRPr>
            </a:pPr>
            <a:r>
              <a:t>Two different embedding models place semantically identical text at different coordinates. Comparing vectors from two different models is comparing two unrelated coordinate systems. Every query since the upgrade had been searching noise.</a:t>
            </a:r>
          </a:p>
          <a:p>
            <a:pPr>
              <a:spcAft>
                <a:spcPts val="200"/>
              </a:spcAft>
              <a:defRPr sz="2000" b="1">
                <a:solidFill>
                  <a:srgbClr val="5B8DEF"/>
                </a:solidFill>
                <a:latin typeface="Segoe UI"/>
              </a:defRPr>
            </a:pPr>
            <a:r>
              <a:t>The fix.</a:t>
            </a:r>
          </a:p>
          <a:p>
            <a:pPr lvl="1">
              <a:spcAft>
                <a:spcPts val="1400"/>
              </a:spcAft>
              <a:defRPr sz="1700">
                <a:solidFill>
                  <a:srgbClr val="F2F2F2"/>
                </a:solidFill>
                <a:latin typeface="Segoe UI"/>
              </a:defRPr>
            </a:pPr>
            <a:r>
              <a:t>Re embedded the full 6.4 million row corpus with the current model and swapped it in. Verified with the exact failing query before and after.</a:t>
            </a:r>
          </a:p>
        </p:txBody>
      </p:sp>
      <p:sp>
        <p:nvSpPr>
          <p:cNvPr id="4" name="TextBox 3"/>
          <p:cNvSpPr txBox="1"/>
          <p:nvPr/>
        </p:nvSpPr>
        <p:spPr>
          <a:xfrm>
            <a:off x="548640" y="6446520"/>
            <a:ext cx="10972800" cy="365760"/>
          </a:xfrm>
          <a:prstGeom prst="rect">
            <a:avLst/>
          </a:prstGeom>
          <a:noFill/>
        </p:spPr>
        <p:txBody>
          <a:bodyPr wrap="none">
            <a:spAutoFit/>
          </a:bodyPr>
          <a:lstStyle/>
          <a:p>
            <a:pPr>
              <a:defRPr sz="1200">
                <a:solidFill>
                  <a:srgbClr val="AAAAB2"/>
                </a:solidFill>
                <a:latin typeface="Segoe UI"/>
              </a:defRPr>
            </a:pPr>
            <a:r>
              <a:t>Tern AI — technical overview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8"/>
        </a:solidFill>
        <a:effectLst/>
      </p:bgPr>
    </p:bg>
    <p:spTree>
      <p:nvGrpSpPr>
        <p:cNvPr id="1" name=""/>
        <p:cNvGrpSpPr/>
        <p:nvPr/>
      </p:nvGrpSpPr>
      <p:grpSpPr/>
      <p:sp>
        <p:nvSpPr>
          <p:cNvPr id="2" name="TextBox 1"/>
          <p:cNvSpPr txBox="1"/>
          <p:nvPr/>
        </p:nvSpPr>
        <p:spPr>
          <a:xfrm>
            <a:off x="548640" y="457200"/>
            <a:ext cx="11064240" cy="1005840"/>
          </a:xfrm>
          <a:prstGeom prst="rect">
            <a:avLst/>
          </a:prstGeom>
          <a:noFill/>
        </p:spPr>
        <p:txBody>
          <a:bodyPr wrap="square">
            <a:spAutoFit/>
          </a:bodyPr>
          <a:lstStyle/>
          <a:p>
            <a:pPr>
              <a:defRPr sz="3600" b="1">
                <a:solidFill>
                  <a:srgbClr val="F2F2F2"/>
                </a:solidFill>
                <a:latin typeface="Segoe UI"/>
              </a:defRPr>
            </a:pPr>
            <a:r>
              <a:t>Tool use, and a deliberate constraint</a:t>
            </a:r>
          </a:p>
        </p:txBody>
      </p:sp>
      <p:sp>
        <p:nvSpPr>
          <p:cNvPr id="3" name="TextBox 2"/>
          <p:cNvSpPr txBox="1"/>
          <p:nvPr/>
        </p:nvSpPr>
        <p:spPr>
          <a:xfrm>
            <a:off x="548640" y="1554480"/>
            <a:ext cx="11064240" cy="4754880"/>
          </a:xfrm>
          <a:prstGeom prst="rect">
            <a:avLst/>
          </a:prstGeom>
          <a:noFill/>
        </p:spPr>
        <p:txBody>
          <a:bodyPr wrap="square">
            <a:spAutoFit/>
          </a:bodyPr>
          <a:lstStyle/>
          <a:p>
            <a:pPr>
              <a:spcAft>
                <a:spcPts val="200"/>
              </a:spcAft>
              <a:defRPr sz="2000" b="1">
                <a:solidFill>
                  <a:srgbClr val="5B8DEF"/>
                </a:solidFill>
                <a:latin typeface="Segoe UI"/>
              </a:defRPr>
            </a:pPr>
            <a:r>
              <a:t>The model itself decides when to use a tool,</a:t>
            </a:r>
          </a:p>
          <a:p>
            <a:pPr lvl="1">
              <a:spcAft>
                <a:spcPts val="1400"/>
              </a:spcAft>
              <a:defRPr sz="1700">
                <a:solidFill>
                  <a:srgbClr val="F2F2F2"/>
                </a:solidFill>
                <a:latin typeface="Segoe UI"/>
              </a:defRPr>
            </a:pPr>
            <a:r>
              <a:t>trained via SFT to emit a structured line like CALL: calculator(17*23) instead of trying to compute the answer itself.</a:t>
            </a:r>
          </a:p>
          <a:p>
            <a:pPr>
              <a:spcAft>
                <a:spcPts val="200"/>
              </a:spcAft>
              <a:defRPr sz="2000" b="1">
                <a:solidFill>
                  <a:srgbClr val="5B8DEF"/>
                </a:solidFill>
                <a:latin typeface="Segoe UI"/>
              </a:defRPr>
            </a:pPr>
            <a:r>
              <a:t>The result is never handed back to the model to rephrase.</a:t>
            </a:r>
          </a:p>
          <a:p>
            <a:pPr lvl="1">
              <a:spcAft>
                <a:spcPts val="1400"/>
              </a:spcAft>
              <a:defRPr sz="1700">
                <a:solidFill>
                  <a:srgbClr val="F2F2F2"/>
                </a:solidFill>
                <a:latin typeface="Segoe UI"/>
              </a:defRPr>
            </a:pPr>
            <a:r>
              <a:t>A calculator result or a live search hit is already correct. A second generation pass could only add a chance for a small model to say something wrong on top of a right answer, so the real tool output is printed directly.</a:t>
            </a:r>
          </a:p>
          <a:p>
            <a:pPr>
              <a:spcAft>
                <a:spcPts val="200"/>
              </a:spcAft>
              <a:defRPr sz="2000" b="1">
                <a:solidFill>
                  <a:srgbClr val="5B8DEF"/>
                </a:solidFill>
                <a:latin typeface="Segoe UI"/>
              </a:defRPr>
            </a:pPr>
            <a:r>
              <a:t>The same rule applies to live search fallback:</a:t>
            </a:r>
          </a:p>
          <a:p>
            <a:pPr lvl="1">
              <a:spcAft>
                <a:spcPts val="1400"/>
              </a:spcAft>
              <a:defRPr sz="1700">
                <a:solidFill>
                  <a:srgbClr val="F2F2F2"/>
                </a:solidFill>
                <a:latin typeface="Segoe UI"/>
              </a:defRPr>
            </a:pPr>
            <a:r>
              <a:t>when the model's own training signals it does not know an answer, a real DuckDuckGo result is shown as is, tagged as a live search result, never generated text.</a:t>
            </a:r>
          </a:p>
        </p:txBody>
      </p:sp>
      <p:sp>
        <p:nvSpPr>
          <p:cNvPr id="4" name="TextBox 3"/>
          <p:cNvSpPr txBox="1"/>
          <p:nvPr/>
        </p:nvSpPr>
        <p:spPr>
          <a:xfrm>
            <a:off x="548640" y="6446520"/>
            <a:ext cx="10972800" cy="365760"/>
          </a:xfrm>
          <a:prstGeom prst="rect">
            <a:avLst/>
          </a:prstGeom>
          <a:noFill/>
        </p:spPr>
        <p:txBody>
          <a:bodyPr wrap="none">
            <a:spAutoFit/>
          </a:bodyPr>
          <a:lstStyle/>
          <a:p>
            <a:pPr>
              <a:defRPr sz="1200">
                <a:solidFill>
                  <a:srgbClr val="AAAAB2"/>
                </a:solidFill>
                <a:latin typeface="Segoe UI"/>
              </a:defRPr>
            </a:pPr>
            <a:r>
              <a:t>Tern AI — technical overview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418"/>
        </a:solidFill>
        <a:effectLst/>
      </p:bgPr>
    </p:bg>
    <p:spTree>
      <p:nvGrpSpPr>
        <p:cNvPr id="1" name=""/>
        <p:cNvGrpSpPr/>
        <p:nvPr/>
      </p:nvGrpSpPr>
      <p:grpSpPr/>
      <p:sp>
        <p:nvSpPr>
          <p:cNvPr id="2" name="TextBox 1"/>
          <p:cNvSpPr txBox="1"/>
          <p:nvPr/>
        </p:nvSpPr>
        <p:spPr>
          <a:xfrm>
            <a:off x="548640" y="457200"/>
            <a:ext cx="11064240" cy="1005840"/>
          </a:xfrm>
          <a:prstGeom prst="rect">
            <a:avLst/>
          </a:prstGeom>
          <a:noFill/>
        </p:spPr>
        <p:txBody>
          <a:bodyPr wrap="square">
            <a:spAutoFit/>
          </a:bodyPr>
          <a:lstStyle/>
          <a:p>
            <a:pPr>
              <a:defRPr sz="3600" b="1">
                <a:solidFill>
                  <a:srgbClr val="F2F2F2"/>
                </a:solidFill>
                <a:latin typeface="Segoe UI"/>
              </a:defRPr>
            </a:pPr>
            <a:r>
              <a:t>Real engineering: teaching a model to stop</a:t>
            </a:r>
          </a:p>
        </p:txBody>
      </p:sp>
      <p:sp>
        <p:nvSpPr>
          <p:cNvPr id="3" name="TextBox 2"/>
          <p:cNvSpPr txBox="1"/>
          <p:nvPr/>
        </p:nvSpPr>
        <p:spPr>
          <a:xfrm>
            <a:off x="548640" y="1554480"/>
            <a:ext cx="11064240" cy="4754880"/>
          </a:xfrm>
          <a:prstGeom prst="rect">
            <a:avLst/>
          </a:prstGeom>
          <a:noFill/>
        </p:spPr>
        <p:txBody>
          <a:bodyPr wrap="square">
            <a:spAutoFit/>
          </a:bodyPr>
          <a:lstStyle/>
          <a:p>
            <a:pPr>
              <a:spcAft>
                <a:spcPts val="200"/>
              </a:spcAft>
              <a:defRPr sz="2000" b="1">
                <a:solidFill>
                  <a:srgbClr val="5B8DEF"/>
                </a:solidFill>
                <a:latin typeface="Segoe UI"/>
              </a:defRPr>
            </a:pPr>
            <a:r>
              <a:t>The symptom.</a:t>
            </a:r>
          </a:p>
          <a:p>
            <a:pPr lvl="1">
              <a:spcAft>
                <a:spcPts val="1400"/>
              </a:spcAft>
              <a:defRPr sz="1700">
                <a:solidFill>
                  <a:srgbClr val="F2F2F2"/>
                </a:solidFill>
                <a:latin typeface="Segoe UI"/>
              </a:defRPr>
            </a:pPr>
            <a:r>
              <a:t>Simple questions like “hi” produced the same short phrase, repeated ten times in a row, filling the entire response budget.</a:t>
            </a:r>
          </a:p>
          <a:p>
            <a:pPr>
              <a:spcAft>
                <a:spcPts val="200"/>
              </a:spcAft>
              <a:defRPr sz="2000" b="1">
                <a:solidFill>
                  <a:srgbClr val="5B8DEF"/>
                </a:solidFill>
                <a:latin typeface="Segoe UI"/>
              </a:defRPr>
            </a:pPr>
            <a:r>
              <a:t>The root cause.</a:t>
            </a:r>
          </a:p>
          <a:p>
            <a:pPr lvl="1">
              <a:spcAft>
                <a:spcPts val="1400"/>
              </a:spcAft>
              <a:defRPr sz="1700">
                <a:solidFill>
                  <a:srgbClr val="F2F2F2"/>
                </a:solidFill>
                <a:latin typeface="Segoe UI"/>
              </a:defRPr>
            </a:pPr>
            <a:r>
              <a:t>Every fine tuning example ended with the answer text and nothing after it. No training example ever showed the model what token comes next once an answer is finished, so there was no supervised signal telling it to stop.</a:t>
            </a:r>
          </a:p>
          <a:p>
            <a:pPr>
              <a:spcAft>
                <a:spcPts val="200"/>
              </a:spcAft>
              <a:defRPr sz="2000" b="1">
                <a:solidFill>
                  <a:srgbClr val="5B8DEF"/>
                </a:solidFill>
                <a:latin typeface="Segoe UI"/>
              </a:defRPr>
            </a:pPr>
            <a:r>
              <a:t>The fix.</a:t>
            </a:r>
          </a:p>
          <a:p>
            <a:pPr lvl="1">
              <a:spcAft>
                <a:spcPts val="1400"/>
              </a:spcAft>
              <a:defRPr sz="1700">
                <a:solidFill>
                  <a:srgbClr val="F2F2F2"/>
                </a:solidFill>
                <a:latin typeface="Segoe UI"/>
              </a:defRPr>
            </a:pPr>
            <a:r>
              <a:t>Added a real newline as a trained, unmasked target immediately after every answer in the fine tuning dataset, then re ran fine tuning on the corrected data.</a:t>
            </a:r>
          </a:p>
        </p:txBody>
      </p:sp>
      <p:sp>
        <p:nvSpPr>
          <p:cNvPr id="4" name="TextBox 3"/>
          <p:cNvSpPr txBox="1"/>
          <p:nvPr/>
        </p:nvSpPr>
        <p:spPr>
          <a:xfrm>
            <a:off x="548640" y="6446520"/>
            <a:ext cx="10972800" cy="365760"/>
          </a:xfrm>
          <a:prstGeom prst="rect">
            <a:avLst/>
          </a:prstGeom>
          <a:noFill/>
        </p:spPr>
        <p:txBody>
          <a:bodyPr wrap="none">
            <a:spAutoFit/>
          </a:bodyPr>
          <a:lstStyle/>
          <a:p>
            <a:pPr>
              <a:defRPr sz="1200">
                <a:solidFill>
                  <a:srgbClr val="AAAAB2"/>
                </a:solidFill>
                <a:latin typeface="Segoe UI"/>
              </a:defRPr>
            </a:pPr>
            <a:r>
              <a:t>Tern AI — technical overview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418"/>
        </a:solidFill>
        <a:effectLst/>
      </p:bgPr>
    </p:bg>
    <p:spTree>
      <p:nvGrpSpPr>
        <p:cNvPr id="1" name=""/>
        <p:cNvGrpSpPr/>
        <p:nvPr/>
      </p:nvGrpSpPr>
      <p:grpSpPr/>
      <p:sp>
        <p:nvSpPr>
          <p:cNvPr id="2" name="TextBox 1"/>
          <p:cNvSpPr txBox="1"/>
          <p:nvPr/>
        </p:nvSpPr>
        <p:spPr>
          <a:xfrm>
            <a:off x="548640" y="457200"/>
            <a:ext cx="11064240" cy="1005840"/>
          </a:xfrm>
          <a:prstGeom prst="rect">
            <a:avLst/>
          </a:prstGeom>
          <a:noFill/>
        </p:spPr>
        <p:txBody>
          <a:bodyPr wrap="square">
            <a:spAutoFit/>
          </a:bodyPr>
          <a:lstStyle/>
          <a:p>
            <a:pPr>
              <a:defRPr sz="3600" b="1">
                <a:solidFill>
                  <a:srgbClr val="F2F2F2"/>
                </a:solidFill>
                <a:latin typeface="Segoe UI"/>
              </a:defRPr>
            </a:pPr>
            <a:r>
              <a:t>Real engineering: cutting text without an NLP model</a:t>
            </a:r>
          </a:p>
        </p:txBody>
      </p:sp>
      <p:sp>
        <p:nvSpPr>
          <p:cNvPr id="3" name="TextBox 2"/>
          <p:cNvSpPr txBox="1"/>
          <p:nvPr/>
        </p:nvSpPr>
        <p:spPr>
          <a:xfrm>
            <a:off x="548640" y="1554480"/>
            <a:ext cx="11064240" cy="4754880"/>
          </a:xfrm>
          <a:prstGeom prst="rect">
            <a:avLst/>
          </a:prstGeom>
          <a:noFill/>
        </p:spPr>
        <p:txBody>
          <a:bodyPr wrap="square">
            <a:spAutoFit/>
          </a:bodyPr>
          <a:lstStyle/>
          <a:p>
            <a:pPr>
              <a:spcAft>
                <a:spcPts val="200"/>
              </a:spcAft>
              <a:defRPr sz="2000" b="1">
                <a:solidFill>
                  <a:srgbClr val="5B8DEF"/>
                </a:solidFill>
                <a:latin typeface="Segoe UI"/>
              </a:defRPr>
            </a:pPr>
            <a:r>
              <a:t>The goal.</a:t>
            </a:r>
          </a:p>
          <a:p>
            <a:pPr lvl="1">
              <a:spcAft>
                <a:spcPts val="1400"/>
              </a:spcAft>
              <a:defRPr sz="1700">
                <a:solidFill>
                  <a:srgbClr val="F2F2F2"/>
                </a:solidFill>
                <a:latin typeface="Segoe UI"/>
              </a:defRPr>
            </a:pPr>
            <a:r>
              <a:t>Grounded answers were full paragraphs. Users wanted the first sentence only, without adding a heavyweight NLP dependency for one formatting step.</a:t>
            </a:r>
          </a:p>
          <a:p>
            <a:pPr>
              <a:spcAft>
                <a:spcPts val="200"/>
              </a:spcAft>
              <a:defRPr sz="2000" b="1">
                <a:solidFill>
                  <a:srgbClr val="5B8DEF"/>
                </a:solidFill>
                <a:latin typeface="Segoe UI"/>
              </a:defRPr>
            </a:pPr>
            <a:r>
              <a:t>Why it is a real problem, not a one line fix.</a:t>
            </a:r>
          </a:p>
          <a:p>
            <a:pPr lvl="1">
              <a:spcAft>
                <a:spcPts val="1400"/>
              </a:spcAft>
              <a:defRPr sz="1700">
                <a:solidFill>
                  <a:srgbClr val="F2F2F2"/>
                </a:solidFill>
                <a:latin typeface="Segoe UI"/>
              </a:defRPr>
            </a:pPr>
            <a:r>
              <a:t>A period does not always end a sentence. “U.S.”, “Prof.”, and “7.92mm” all contain periods that are not sentence boundaries. Getting this wrong either truncates real facts mid word or fails to cut at all.</a:t>
            </a:r>
          </a:p>
          <a:p>
            <a:pPr>
              <a:spcAft>
                <a:spcPts val="200"/>
              </a:spcAft>
              <a:defRPr sz="2000" b="1">
                <a:solidFill>
                  <a:srgbClr val="5B8DEF"/>
                </a:solidFill>
                <a:latin typeface="Segoe UI"/>
              </a:defRPr>
            </a:pPr>
            <a:r>
              <a:t>The approach.</a:t>
            </a:r>
          </a:p>
          <a:p>
            <a:pPr lvl="1">
              <a:spcAft>
                <a:spcPts val="1400"/>
              </a:spcAft>
              <a:defRPr sz="1700">
                <a:solidFill>
                  <a:srgbClr val="F2F2F2"/>
                </a:solidFill>
                <a:latin typeface="Segoe UI"/>
              </a:defRPr>
            </a:pPr>
            <a:r>
              <a:t>A variable width regex lookbehind checked against a real abbreviation lexicon (adapted from a production sentence boundary library), audited both directions across the full 6.4 million row corpus: which tokens wrongly block a real sentence end, and which real words look like abbreviations but are not.</a:t>
            </a:r>
          </a:p>
          <a:p>
            <a:pPr>
              <a:spcAft>
                <a:spcPts val="200"/>
              </a:spcAft>
              <a:defRPr sz="2000" b="1">
                <a:solidFill>
                  <a:srgbClr val="5B8DEF"/>
                </a:solidFill>
                <a:latin typeface="Segoe UI"/>
              </a:defRPr>
            </a:pPr>
            <a:r>
              <a:t>The result.</a:t>
            </a:r>
          </a:p>
          <a:p>
            <a:pPr lvl="1">
              <a:spcAft>
                <a:spcPts val="1400"/>
              </a:spcAft>
              <a:defRPr sz="1700">
                <a:solidFill>
                  <a:srgbClr val="F2F2F2"/>
                </a:solidFill>
                <a:latin typeface="Segoe UI"/>
              </a:defRPr>
            </a:pPr>
            <a:r>
              <a:t>Measured, not guessed: the shipped rule was validated against millions of real examples, with the exact residual failure rate documented rather than assumed away.</a:t>
            </a:r>
          </a:p>
        </p:txBody>
      </p:sp>
      <p:sp>
        <p:nvSpPr>
          <p:cNvPr id="4" name="TextBox 3"/>
          <p:cNvSpPr txBox="1"/>
          <p:nvPr/>
        </p:nvSpPr>
        <p:spPr>
          <a:xfrm>
            <a:off x="548640" y="6446520"/>
            <a:ext cx="10972800" cy="365760"/>
          </a:xfrm>
          <a:prstGeom prst="rect">
            <a:avLst/>
          </a:prstGeom>
          <a:noFill/>
        </p:spPr>
        <p:txBody>
          <a:bodyPr wrap="none">
            <a:spAutoFit/>
          </a:bodyPr>
          <a:lstStyle/>
          <a:p>
            <a:pPr>
              <a:defRPr sz="1200">
                <a:solidFill>
                  <a:srgbClr val="AAAAB2"/>
                </a:solidFill>
                <a:latin typeface="Segoe UI"/>
              </a:defRPr>
            </a:pPr>
            <a:r>
              <a:t>Tern AI — technical overview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8"/>
        </a:solidFill>
        <a:effectLst/>
      </p:bgPr>
    </p:bg>
    <p:spTree>
      <p:nvGrpSpPr>
        <p:cNvPr id="1" name=""/>
        <p:cNvGrpSpPr/>
        <p:nvPr/>
      </p:nvGrpSpPr>
      <p:grpSpPr/>
      <p:sp>
        <p:nvSpPr>
          <p:cNvPr id="2" name="TextBox 1"/>
          <p:cNvSpPr txBox="1"/>
          <p:nvPr/>
        </p:nvSpPr>
        <p:spPr>
          <a:xfrm>
            <a:off x="548640" y="457200"/>
            <a:ext cx="11064240" cy="1005840"/>
          </a:xfrm>
          <a:prstGeom prst="rect">
            <a:avLst/>
          </a:prstGeom>
          <a:noFill/>
        </p:spPr>
        <p:txBody>
          <a:bodyPr wrap="square">
            <a:spAutoFit/>
          </a:bodyPr>
          <a:lstStyle/>
          <a:p>
            <a:pPr>
              <a:defRPr sz="3600" b="1">
                <a:solidFill>
                  <a:srgbClr val="F2F2F2"/>
                </a:solidFill>
                <a:latin typeface="Segoe UI"/>
              </a:defRPr>
            </a:pPr>
            <a:r>
              <a:t>Stack</a:t>
            </a:r>
          </a:p>
        </p:txBody>
      </p:sp>
      <p:sp>
        <p:nvSpPr>
          <p:cNvPr id="3" name="TextBox 2"/>
          <p:cNvSpPr txBox="1"/>
          <p:nvPr/>
        </p:nvSpPr>
        <p:spPr>
          <a:xfrm>
            <a:off x="548640" y="1554480"/>
            <a:ext cx="11064240" cy="4754880"/>
          </a:xfrm>
          <a:prstGeom prst="rect">
            <a:avLst/>
          </a:prstGeom>
          <a:noFill/>
        </p:spPr>
        <p:txBody>
          <a:bodyPr wrap="square">
            <a:spAutoFit/>
          </a:bodyPr>
          <a:lstStyle/>
          <a:p>
            <a:pPr>
              <a:spcAft>
                <a:spcPts val="1000"/>
              </a:spcAft>
              <a:defRPr sz="2000">
                <a:solidFill>
                  <a:srgbClr val="F2F2F2"/>
                </a:solidFill>
                <a:latin typeface="Segoe UI"/>
              </a:defRPr>
            </a:pPr>
            <a:r>
              <a:t>•  PyTorch, a GPT-2 implementation trained from random weights</a:t>
            </a:r>
          </a:p>
          <a:p>
            <a:pPr>
              <a:spcAft>
                <a:spcPts val="1000"/>
              </a:spcAft>
              <a:defRPr sz="2000">
                <a:solidFill>
                  <a:srgbClr val="F2F2F2"/>
                </a:solidFill>
                <a:latin typeface="Segoe UI"/>
              </a:defRPr>
            </a:pPr>
            <a:r>
              <a:t>•  tiktoken for tokenization</a:t>
            </a:r>
          </a:p>
          <a:p>
            <a:pPr>
              <a:spcAft>
                <a:spcPts val="1000"/>
              </a:spcAft>
              <a:defRPr sz="2000">
                <a:solidFill>
                  <a:srgbClr val="F2F2F2"/>
                </a:solidFill>
                <a:latin typeface="Segoe UI"/>
              </a:defRPr>
            </a:pPr>
            <a:r>
              <a:t>•  FAISS for approximate nearest neighbor search at scale</a:t>
            </a:r>
          </a:p>
          <a:p>
            <a:pPr>
              <a:spcAft>
                <a:spcPts val="1000"/>
              </a:spcAft>
              <a:defRPr sz="2000">
                <a:solidFill>
                  <a:srgbClr val="F2F2F2"/>
                </a:solidFill>
                <a:latin typeface="Segoe UI"/>
              </a:defRPr>
            </a:pPr>
            <a:r>
              <a:t>•  sentence-transformers for embeddings and cross encoder reranking</a:t>
            </a:r>
          </a:p>
          <a:p>
            <a:pPr>
              <a:spcAft>
                <a:spcPts val="1000"/>
              </a:spcAft>
              <a:defRPr sz="2000">
                <a:solidFill>
                  <a:srgbClr val="F2F2F2"/>
                </a:solidFill>
                <a:latin typeface="Segoe UI"/>
              </a:defRPr>
            </a:pPr>
            <a:r>
              <a:t>•  SQLite for corpus metadata</a:t>
            </a:r>
          </a:p>
          <a:p>
            <a:pPr>
              <a:spcAft>
                <a:spcPts val="1000"/>
              </a:spcAft>
              <a:defRPr sz="2000">
                <a:solidFill>
                  <a:srgbClr val="F2F2F2"/>
                </a:solidFill>
                <a:latin typeface="Segoe UI"/>
              </a:defRPr>
            </a:pPr>
            <a:r>
              <a:t>•  A live DuckDuckGo search fallback for genuine knowledge gaps</a:t>
            </a:r>
          </a:p>
          <a:p>
            <a:pPr>
              <a:spcAft>
                <a:spcPts val="1000"/>
              </a:spcAft>
              <a:defRPr sz="2000">
                <a:solidFill>
                  <a:srgbClr val="F2F2F2"/>
                </a:solidFill>
                <a:latin typeface="Segoe UI"/>
              </a:defRPr>
            </a:pPr>
            <a:r>
              <a:t>•  A single desktop application (tkinter) to train, resume, and converse with the model</a:t>
            </a:r>
          </a:p>
        </p:txBody>
      </p:sp>
      <p:sp>
        <p:nvSpPr>
          <p:cNvPr id="4" name="TextBox 3"/>
          <p:cNvSpPr txBox="1"/>
          <p:nvPr/>
        </p:nvSpPr>
        <p:spPr>
          <a:xfrm>
            <a:off x="548640" y="6446520"/>
            <a:ext cx="10972800" cy="365760"/>
          </a:xfrm>
          <a:prstGeom prst="rect">
            <a:avLst/>
          </a:prstGeom>
          <a:noFill/>
        </p:spPr>
        <p:txBody>
          <a:bodyPr wrap="none">
            <a:spAutoFit/>
          </a:bodyPr>
          <a:lstStyle/>
          <a:p>
            <a:pPr>
              <a:defRPr sz="1200">
                <a:solidFill>
                  <a:srgbClr val="AAAAB2"/>
                </a:solidFill>
                <a:latin typeface="Segoe UI"/>
              </a:defRPr>
            </a:pPr>
            <a:r>
              <a:t>Tern AI — technical overview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418"/>
        </a:solidFill>
        <a:effectLst/>
      </p:bgPr>
    </p:bg>
    <p:spTree>
      <p:nvGrpSpPr>
        <p:cNvPr id="1" name=""/>
        <p:cNvGrpSpPr/>
        <p:nvPr/>
      </p:nvGrpSpPr>
      <p:grpSpPr/>
      <p:sp>
        <p:nvSpPr>
          <p:cNvPr id="2" name="TextBox 1"/>
          <p:cNvSpPr txBox="1"/>
          <p:nvPr/>
        </p:nvSpPr>
        <p:spPr>
          <a:xfrm>
            <a:off x="548640" y="457200"/>
            <a:ext cx="11064240" cy="1005840"/>
          </a:xfrm>
          <a:prstGeom prst="rect">
            <a:avLst/>
          </a:prstGeom>
          <a:noFill/>
        </p:spPr>
        <p:txBody>
          <a:bodyPr wrap="square">
            <a:spAutoFit/>
          </a:bodyPr>
          <a:lstStyle/>
          <a:p>
            <a:pPr>
              <a:defRPr sz="3600" b="1">
                <a:solidFill>
                  <a:srgbClr val="F2F2F2"/>
                </a:solidFill>
                <a:latin typeface="Segoe UI"/>
              </a:defRPr>
            </a:pPr>
            <a:r>
              <a:t>Where it landed</a:t>
            </a:r>
          </a:p>
        </p:txBody>
      </p:sp>
      <p:sp>
        <p:nvSpPr>
          <p:cNvPr id="3" name="TextBox 2"/>
          <p:cNvSpPr txBox="1"/>
          <p:nvPr/>
        </p:nvSpPr>
        <p:spPr>
          <a:xfrm>
            <a:off x="548640" y="1554480"/>
            <a:ext cx="11064240" cy="4754880"/>
          </a:xfrm>
          <a:prstGeom prst="rect">
            <a:avLst/>
          </a:prstGeom>
          <a:noFill/>
        </p:spPr>
        <p:txBody>
          <a:bodyPr wrap="square">
            <a:spAutoFit/>
          </a:bodyPr>
          <a:lstStyle/>
          <a:p>
            <a:pPr>
              <a:spcAft>
                <a:spcPts val="200"/>
              </a:spcAft>
              <a:defRPr sz="2000" b="1">
                <a:solidFill>
                  <a:srgbClr val="5B8DEF"/>
                </a:solidFill>
                <a:latin typeface="Segoe UI"/>
              </a:defRPr>
            </a:pPr>
            <a:r>
              <a:t>124M parameters, trained from random initialization to a validation loss of 3.07 on OpenWebText,</a:t>
            </a:r>
          </a:p>
          <a:p>
            <a:pPr lvl="1">
              <a:spcAft>
                <a:spcPts val="1400"/>
              </a:spcAft>
              <a:defRPr sz="1700">
                <a:solidFill>
                  <a:srgbClr val="F2F2F2"/>
                </a:solidFill>
                <a:latin typeface="Segoe UI"/>
              </a:defRPr>
            </a:pPr>
            <a:r>
              <a:t>on a single consumer GPU, matching the original OpenAI GPT-2 checkpoint's own score on that dataset.</a:t>
            </a:r>
          </a:p>
          <a:p>
            <a:pPr>
              <a:spcAft>
                <a:spcPts val="200"/>
              </a:spcAft>
              <a:defRPr sz="2000" b="1">
                <a:solidFill>
                  <a:srgbClr val="5B8DEF"/>
                </a:solidFill>
                <a:latin typeface="Segoe UI"/>
              </a:defRPr>
            </a:pPr>
            <a:r>
              <a:t>A retrieval pipeline searching 6.4 million real documents in under 30 milliseconds per query,</a:t>
            </a:r>
          </a:p>
          <a:p>
            <a:pPr lvl="1">
              <a:spcAft>
                <a:spcPts val="1400"/>
              </a:spcAft>
              <a:defRPr sz="1700">
                <a:solidFill>
                  <a:srgbClr val="F2F2F2"/>
                </a:solidFill>
                <a:latin typeface="Segoe UI"/>
              </a:defRPr>
            </a:pPr>
            <a:r>
              <a:t>with a measured, tuned recall and reranking pipeline behind it.</a:t>
            </a:r>
          </a:p>
          <a:p>
            <a:pPr>
              <a:spcAft>
                <a:spcPts val="200"/>
              </a:spcAft>
              <a:defRPr sz="2000" b="1">
                <a:solidFill>
                  <a:srgbClr val="5B8DEF"/>
                </a:solidFill>
                <a:latin typeface="Segoe UI"/>
              </a:defRPr>
            </a:pPr>
            <a:r>
              <a:t>A chat loop that grounds answers in real retrieved text, dispatches real tools for real computation, and falls back to a live search only when the model's own training says it does not know,</a:t>
            </a:r>
          </a:p>
          <a:p>
            <a:pPr lvl="1">
              <a:spcAft>
                <a:spcPts val="1400"/>
              </a:spcAft>
              <a:defRPr sz="1700">
                <a:solidFill>
                  <a:srgbClr val="F2F2F2"/>
                </a:solidFill>
                <a:latin typeface="Segoe UI"/>
              </a:defRPr>
            </a:pPr>
            <a:r>
              <a:t>every answer tagged with exactly where it came from.</a:t>
            </a:r>
          </a:p>
        </p:txBody>
      </p:sp>
      <p:sp>
        <p:nvSpPr>
          <p:cNvPr id="4" name="TextBox 3"/>
          <p:cNvSpPr txBox="1"/>
          <p:nvPr/>
        </p:nvSpPr>
        <p:spPr>
          <a:xfrm>
            <a:off x="548640" y="6446520"/>
            <a:ext cx="10972800" cy="365760"/>
          </a:xfrm>
          <a:prstGeom prst="rect">
            <a:avLst/>
          </a:prstGeom>
          <a:noFill/>
        </p:spPr>
        <p:txBody>
          <a:bodyPr wrap="none">
            <a:spAutoFit/>
          </a:bodyPr>
          <a:lstStyle/>
          <a:p>
            <a:pPr>
              <a:defRPr sz="1200">
                <a:solidFill>
                  <a:srgbClr val="AAAAB2"/>
                </a:solidFill>
                <a:latin typeface="Segoe UI"/>
              </a:defRPr>
            </a:pPr>
            <a:r>
              <a:t>Tern AI — technical overview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